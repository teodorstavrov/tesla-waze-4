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319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TesRadar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C9FF"/>
                </a:solidFill>
              </a:rPr>
              <a:t>Умна навигация специализирана за Tesla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3200400" cy="0"/>
          </a:xfrm>
          <a:prstGeom prst="line">
            <a:avLst/>
          </a:prstGeom>
          <a:noFill/>
          <a:ln w="12700">
            <a:solidFill>
              <a:srgbClr val="E31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017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1937"/>
                </a:solidFill>
              </a:rPr>
              <a:t>tesradar.tech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A2535"/>
          </a:solidFill>
          <a:ln w="12700">
            <a:solidFill>
              <a:srgbClr val="E31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8404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🗺 Радарна карта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0" y="384048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A2535"/>
          </a:solidFill>
          <a:ln w="12700">
            <a:solidFill>
              <a:srgbClr val="E31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38404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⚡ Зарядни станции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94960" y="384048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A2535"/>
          </a:solidFill>
          <a:ln w="12700">
            <a:solidFill>
              <a:srgbClr val="E31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38404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🔊 Двигателен звук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863840" y="384048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A2535"/>
          </a:solidFill>
          <a:ln w="12700">
            <a:solidFill>
              <a:srgbClr val="E31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38404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🌍 6 езика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Презентация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E319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66460"/>
            <a:ext cx="12192000" cy="73152"/>
          </a:xfrm>
          <a:prstGeom prst="rect">
            <a:avLst/>
          </a:prstGeom>
          <a:solidFill>
            <a:srgbClr val="1A253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61036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</a:rPr>
              <a:t>Въведение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61036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31937"/>
                </a:solidFill>
              </a:rPr>
              <a:t>tesradar.tech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Какво е TesRadar?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65760" y="749808"/>
            <a:ext cx="1828800" cy="0"/>
          </a:xfrm>
          <a:prstGeom prst="line">
            <a:avLst/>
          </a:prstGeom>
          <a:noFill/>
          <a:ln w="12700">
            <a:solidFill>
              <a:srgbClr val="E31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300" dirty="0">
                <a:solidFill>
                  <a:srgbClr val="B0BEC5"/>
                </a:solidFill>
              </a:rPr>
              <a:t>TesRadar е уеб приложение оптимизирано за Tesla сензорния екран, предоставящо real-time навигационни предупреждения, карта на скоростни камери, зарядни станции и общностни доклади.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96596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🎯  Проектирано само за Tesla Touchscreen — без мишка, без клавиатура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5029200" cy="0"/>
          </a:xfrm>
          <a:prstGeom prst="line">
            <a:avLst/>
          </a:prstGeom>
          <a:noFill/>
          <a:ln w="12700">
            <a:solidFill>
              <a:srgbClr val="1A25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41448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🌐  Работи директно в Tesla вградения браузър без инсталация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807208"/>
            <a:ext cx="5029200" cy="0"/>
          </a:xfrm>
          <a:prstGeom prst="line">
            <a:avLst/>
          </a:prstGeom>
          <a:noFill/>
          <a:ln w="12700">
            <a:solidFill>
              <a:srgbClr val="1A25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916936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⚡  Real-time обновявания — Supabase Realtime WebSocket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282696"/>
            <a:ext cx="5029200" cy="0"/>
          </a:xfrm>
          <a:prstGeom prst="line">
            <a:avLst/>
          </a:prstGeom>
          <a:noFill/>
          <a:ln w="12700">
            <a:solidFill>
              <a:srgbClr val="1A25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92424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🆓  Безплатно за потребителите, хоствано на Vercel Free Tier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758184"/>
            <a:ext cx="5029200" cy="0"/>
          </a:xfrm>
          <a:prstGeom prst="line">
            <a:avLst/>
          </a:prstGeom>
          <a:noFill/>
          <a:ln w="12700">
            <a:solidFill>
              <a:srgbClr val="1A25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867912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🌍  Поддържа 6 езика: BG, EN, DE, NL, NO, RO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233672"/>
            <a:ext cx="5029200" cy="0"/>
          </a:xfrm>
          <a:prstGeom prst="line">
            <a:avLst/>
          </a:prstGeom>
          <a:noFill/>
          <a:ln w="12700">
            <a:solidFill>
              <a:srgbClr val="1A25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822960"/>
            <a:ext cx="2560320" cy="3840480"/>
          </a:xfrm>
          <a:prstGeom prst="roundRect">
            <a:avLst>
              <a:gd name="adj" fmla="val 10714"/>
            </a:avLst>
          </a:prstGeom>
          <a:solidFill>
            <a:srgbClr val="1A2535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914400"/>
            <a:ext cx="365760" cy="109728"/>
          </a:xfrm>
          <a:prstGeom prst="ellipse">
            <a:avLst/>
          </a:prstGeom>
          <a:solidFill>
            <a:srgbClr val="607080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2801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🗺</a:t>
            </a:r>
            <a:endParaRPr lang="en-US" sz="6000" dirty="0"/>
          </a:p>
        </p:txBody>
      </p:sp>
      <p:sp>
        <p:nvSpPr>
          <p:cNvPr id="22" name="Text 20"/>
          <p:cNvSpPr/>
          <p:nvPr/>
        </p:nvSpPr>
        <p:spPr>
          <a:xfrm>
            <a:off x="6309360" y="2468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31937"/>
                </a:solidFill>
              </a:rPr>
              <a:t>tesradar.tech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2834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Tesla Browser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0" y="4251960"/>
            <a:ext cx="365760" cy="365760"/>
          </a:xfrm>
          <a:prstGeom prst="ellipse">
            <a:avLst/>
          </a:prstGeom>
          <a:solidFill>
            <a:srgbClr val="60708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E319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66460"/>
            <a:ext cx="12192000" cy="73152"/>
          </a:xfrm>
          <a:prstGeom prst="rect">
            <a:avLst/>
          </a:prstGeom>
          <a:solidFill>
            <a:srgbClr val="1A253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61036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</a:rPr>
              <a:t>Проблем и решение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61036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31937"/>
                </a:solidFill>
              </a:rPr>
              <a:t>tesradar.tech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Проблемът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65760" y="749808"/>
            <a:ext cx="1828800" cy="0"/>
          </a:xfrm>
          <a:prstGeom prst="line">
            <a:avLst/>
          </a:prstGeom>
          <a:noFill/>
          <a:ln w="12700">
            <a:solidFill>
              <a:srgbClr val="E31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05840"/>
            <a:ext cx="2834640" cy="2834640"/>
          </a:xfrm>
          <a:prstGeom prst="roundRect">
            <a:avLst>
              <a:gd name="adj" fmla="val 3871"/>
            </a:avLst>
          </a:prstGeom>
          <a:solidFill>
            <a:srgbClr val="1E2D3D"/>
          </a:solidFill>
          <a:ln w="12700">
            <a:solidFill>
              <a:srgbClr val="E31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1556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📵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15361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Waze не работи в Tesla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783080"/>
            <a:ext cx="2560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Waze изисква телефон — не е оптимизиран за Tesla сензорен дисплей 17"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83280" y="1005840"/>
            <a:ext cx="2834640" cy="2834640"/>
          </a:xfrm>
          <a:prstGeom prst="roundRect">
            <a:avLst>
              <a:gd name="adj" fmla="val 3871"/>
            </a:avLst>
          </a:prstGeom>
          <a:solidFill>
            <a:srgbClr val="1E2D3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11556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20440" y="15361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Няма локална камерна база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1783080"/>
            <a:ext cx="2560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Стандартната навигация не знае за локалните скоростни камери в BG/NO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0" y="1005840"/>
            <a:ext cx="2834640" cy="2834640"/>
          </a:xfrm>
          <a:prstGeom prst="roundRect">
            <a:avLst>
              <a:gd name="adj" fmla="val 3871"/>
            </a:avLst>
          </a:prstGeom>
          <a:solidFill>
            <a:srgbClr val="1E2D3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111556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37960" y="15361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Зарядните са разпръснати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37960" y="1783080"/>
            <a:ext cx="2560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Tesla Map показва само Supercharger — не AC станции на трети страни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3977640"/>
            <a:ext cx="12192000" cy="731520"/>
          </a:xfrm>
          <a:prstGeom prst="rect">
            <a:avLst/>
          </a:prstGeom>
          <a:solidFill>
            <a:srgbClr val="1A2535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04164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✅  TesRadar решава всичко това — работи директно в Tesla браузъра, без телефон, без допълнителни устройства.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E319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66460"/>
            <a:ext cx="12192000" cy="73152"/>
          </a:xfrm>
          <a:prstGeom prst="rect">
            <a:avLst/>
          </a:prstGeom>
          <a:solidFill>
            <a:srgbClr val="1A253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61036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</a:rPr>
              <a:t>Функционалности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61036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31937"/>
                </a:solidFill>
              </a:rPr>
              <a:t>tesradar.tech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6 Основни Функционалности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65760" y="749808"/>
            <a:ext cx="2286000" cy="0"/>
          </a:xfrm>
          <a:prstGeom prst="line">
            <a:avLst/>
          </a:prstGeom>
          <a:noFill/>
          <a:ln w="12700">
            <a:solidFill>
              <a:srgbClr val="E31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960120"/>
            <a:ext cx="2834640" cy="1691640"/>
          </a:xfrm>
          <a:prstGeom prst="roundRect">
            <a:avLst>
              <a:gd name="adj" fmla="val 6486"/>
            </a:avLst>
          </a:prstGeom>
          <a:solidFill>
            <a:srgbClr val="1E2D3D"/>
          </a:solidFill>
          <a:ln w="12700">
            <a:solidFill>
              <a:srgbClr val="E31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6984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14904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Радарна карта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7373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Real-time скоростни камери, пътни инциденти и предупреждения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37560" y="960120"/>
            <a:ext cx="2834640" cy="1691640"/>
          </a:xfrm>
          <a:prstGeom prst="roundRect">
            <a:avLst>
              <a:gd name="adj" fmla="val 6486"/>
            </a:avLst>
          </a:prstGeom>
          <a:solidFill>
            <a:srgbClr val="1E2D3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06984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74720" y="14904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Зарядни станции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17373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Интерактивна карта с AC/DC зарядни от множество мрежи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0" y="960120"/>
            <a:ext cx="2834640" cy="1691640"/>
          </a:xfrm>
          <a:prstGeom prst="roundRect">
            <a:avLst>
              <a:gd name="adj" fmla="val 6486"/>
            </a:avLst>
          </a:prstGeom>
          <a:solidFill>
            <a:srgbClr val="1E2D3D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106984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37960" y="14904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Общностни доклади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37960" y="17373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Потребителски маркери: катастрофи, задръствания, полиция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834640"/>
            <a:ext cx="2834640" cy="1691640"/>
          </a:xfrm>
          <a:prstGeom prst="roundRect">
            <a:avLst>
              <a:gd name="adj" fmla="val 6486"/>
            </a:avLst>
          </a:prstGeom>
          <a:solidFill>
            <a:srgbClr val="1E2D3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94436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🔊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11480" y="33649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Engine Звукове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6118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5 синтезирани двигателя свързани с GPS скорост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37560" y="2834640"/>
            <a:ext cx="2834640" cy="1691640"/>
          </a:xfrm>
          <a:prstGeom prst="roundRect">
            <a:avLst>
              <a:gd name="adj" fmla="val 6486"/>
            </a:avLst>
          </a:prstGeom>
          <a:solidFill>
            <a:srgbClr val="1E2D3D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294436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474720" y="33649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Мултиезичност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36118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6 езика — BG, EN, DE, NL, NO, RO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0" y="2834640"/>
            <a:ext cx="2834640" cy="1691640"/>
          </a:xfrm>
          <a:prstGeom prst="roundRect">
            <a:avLst>
              <a:gd name="adj" fmla="val 6486"/>
            </a:avLst>
          </a:prstGeom>
          <a:solidFill>
            <a:srgbClr val="1E2D3D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294436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537960" y="33649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Администрация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37960" y="36118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Пълен admin panel за модерация на маркери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E319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66460"/>
            <a:ext cx="12192000" cy="73152"/>
          </a:xfrm>
          <a:prstGeom prst="rect">
            <a:avLst/>
          </a:prstGeom>
          <a:solidFill>
            <a:srgbClr val="1A253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61036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</a:rPr>
              <a:t>Функционалност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61036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31937"/>
                </a:solidFill>
              </a:rPr>
              <a:t>tesradar.tech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Радарна Карта &amp; GPS Предупреждения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749808"/>
            <a:ext cx="2743200" cy="0"/>
          </a:xfrm>
          <a:prstGeom prst="line">
            <a:avLst/>
          </a:prstGeom>
          <a:noFill/>
          <a:ln w="12700">
            <a:solidFill>
              <a:srgbClr val="E31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960120"/>
            <a:ext cx="4937760" cy="822960"/>
          </a:xfrm>
          <a:prstGeom prst="roundRect">
            <a:avLst>
              <a:gd name="adj" fmla="val 11111"/>
            </a:avLst>
          </a:prstGeom>
          <a:solidFill>
            <a:srgbClr val="1E2D3D"/>
          </a:solidFill>
          <a:ln w="12700">
            <a:solidFill>
              <a:srgbClr val="E31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24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10058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Real-time скоростни камери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26187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база данни с точни GPS координати за BG и NO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920240"/>
            <a:ext cx="4937760" cy="822960"/>
          </a:xfrm>
          <a:prstGeom prst="roundRect">
            <a:avLst>
              <a:gd name="adj" fmla="val 11111"/>
            </a:avLst>
          </a:prstGeom>
          <a:solidFill>
            <a:srgbClr val="1E2D3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984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60120" y="19659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Proximity предупреждения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22199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аудио + визуален сигнал при приближаване към камера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4937760" cy="822960"/>
          </a:xfrm>
          <a:prstGeom prst="roundRect">
            <a:avLst>
              <a:gd name="adj" fmla="val 11111"/>
            </a:avLst>
          </a:prstGeom>
          <a:solidFill>
            <a:srgbClr val="1E2D3D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🚦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60120" y="29260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Пътни инциденти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18211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shared маркери от общността: катастрофи, задръствания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840480"/>
            <a:ext cx="4937760" cy="822960"/>
          </a:xfrm>
          <a:prstGeom prst="roundRect">
            <a:avLst>
              <a:gd name="adj" fmla="val 11111"/>
            </a:avLst>
          </a:prstGeom>
          <a:solidFill>
            <a:srgbClr val="1E2D3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904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🏎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60120" y="388620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GPS скорост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14223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real-time скоростомер от Geolocation API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0" y="822960"/>
            <a:ext cx="3474720" cy="3931920"/>
          </a:xfrm>
          <a:prstGeom prst="roundRect">
            <a:avLst>
              <a:gd name="adj" fmla="val 5263"/>
            </a:avLst>
          </a:prstGeom>
          <a:solidFill>
            <a:srgbClr val="0D1F0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91440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0" dirty="0">
                <a:solidFill>
                  <a:srgbClr val="000000"/>
                </a:solidFill>
              </a:rPr>
              <a:t>🗺</a:t>
            </a:r>
            <a:endParaRPr lang="en-US" sz="5500" dirty="0"/>
          </a:p>
        </p:txBody>
      </p:sp>
      <p:sp>
        <p:nvSpPr>
          <p:cNvPr id="26" name="Text 24"/>
          <p:cNvSpPr/>
          <p:nvPr/>
        </p:nvSpPr>
        <p:spPr>
          <a:xfrm>
            <a:off x="594360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📡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7512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0664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4088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🔌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76072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669280" y="4389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FF"/>
                </a:solidFill>
              </a:rPr>
              <a:t>📍 Текуща позиция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E319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66460"/>
            <a:ext cx="12192000" cy="73152"/>
          </a:xfrm>
          <a:prstGeom prst="rect">
            <a:avLst/>
          </a:prstGeom>
          <a:solidFill>
            <a:srgbClr val="1A253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61036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</a:rPr>
              <a:t>Функционалност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61036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31937"/>
                </a:solidFill>
              </a:rPr>
              <a:t>tesradar.tech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Зарядни Станции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65760" y="749808"/>
            <a:ext cx="1828800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914400"/>
            <a:ext cx="2103120" cy="1005840"/>
          </a:xfrm>
          <a:prstGeom prst="roundRect">
            <a:avLst>
              <a:gd name="adj" fmla="val 10909"/>
            </a:avLst>
          </a:prstGeom>
          <a:solidFill>
            <a:srgbClr val="1E2D3D"/>
          </a:solidFill>
          <a:ln w="12700">
            <a:solidFill>
              <a:srgbClr val="E31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8755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1937"/>
                </a:solidFill>
              </a:rPr>
              <a:t>DC Fast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4320" y="149047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CCS / CHAdeMO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51760" y="914400"/>
            <a:ext cx="2103120" cy="1005840"/>
          </a:xfrm>
          <a:prstGeom prst="roundRect">
            <a:avLst>
              <a:gd name="adj" fmla="val 10909"/>
            </a:avLst>
          </a:prstGeom>
          <a:solidFill>
            <a:srgbClr val="1E2D3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98755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AC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51760" y="149047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Type 2 / Schuko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914400"/>
            <a:ext cx="2103120" cy="1005840"/>
          </a:xfrm>
          <a:prstGeom prst="roundRect">
            <a:avLst>
              <a:gd name="adj" fmla="val 10909"/>
            </a:avLst>
          </a:prstGeom>
          <a:solidFill>
            <a:srgbClr val="1E2D3D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98755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9FF"/>
                </a:solidFill>
              </a:rPr>
              <a:t>Real-time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29200" y="149047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данни от API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06640" y="914400"/>
            <a:ext cx="2103120" cy="1005840"/>
          </a:xfrm>
          <a:prstGeom prst="roundRect">
            <a:avLst>
              <a:gd name="adj" fmla="val 10909"/>
            </a:avLst>
          </a:prstGeom>
          <a:solidFill>
            <a:srgbClr val="1E2D3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98755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Filter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406640" y="149047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тип / мощност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21031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</a:rPr>
              <a:t>⚡  Интерактивна карта с всички типове зарядни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" y="26060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</a:rPr>
              <a:t>🔍  Филтриране по тип конектор, мощност и наличност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310896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</a:rPr>
              <a:t>📍  Клик на маркер → детайли: адрес, оператор, мощност kW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4320" y="361188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</a:rPr>
              <a:t>🧭  Навигация към избраната станция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4320" y="411480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</a:rPr>
              <a:t>📡  Автоматична синхронизация с централна база данни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83680" y="914400"/>
            <a:ext cx="2286000" cy="3474720"/>
          </a:xfrm>
          <a:prstGeom prst="roundRect">
            <a:avLst>
              <a:gd name="adj" fmla="val 8000"/>
            </a:avLst>
          </a:prstGeom>
          <a:solidFill>
            <a:srgbClr val="1A253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12801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0" dirty="0">
                <a:solidFill>
                  <a:srgbClr val="000000"/>
                </a:solidFill>
              </a:rPr>
              <a:t>⚡</a:t>
            </a:r>
            <a:endParaRPr lang="en-US" sz="7000" dirty="0"/>
          </a:p>
        </p:txBody>
      </p:sp>
      <p:sp>
        <p:nvSpPr>
          <p:cNvPr id="27" name="Text 25"/>
          <p:cNvSpPr/>
          <p:nvPr/>
        </p:nvSpPr>
        <p:spPr>
          <a:xfrm>
            <a:off x="658368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EV Charging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83680" y="3291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Network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E319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66460"/>
            <a:ext cx="12192000" cy="73152"/>
          </a:xfrm>
          <a:prstGeom prst="rect">
            <a:avLst/>
          </a:prstGeom>
          <a:solidFill>
            <a:srgbClr val="1A253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61036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</a:rPr>
              <a:t>Функционалност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61036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31937"/>
                </a:solidFill>
              </a:rPr>
              <a:t>tesradar.tech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Общностни Доклади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65760" y="749808"/>
            <a:ext cx="1828800" cy="0"/>
          </a:xfrm>
          <a:prstGeom prst="line">
            <a:avLst/>
          </a:prstGeom>
          <a:noFill/>
          <a:ln w="12700">
            <a:solidFill>
              <a:srgbClr val="00C9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960120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1E2D3D"/>
          </a:solidFill>
          <a:ln w="12700">
            <a:solidFill>
              <a:srgbClr val="E31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05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🚗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74320" y="1463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Катастрофа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11680" y="960120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1E2D3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1005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🚦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011680" y="1463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Задръстване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49040" y="960120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1E2D3D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1005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🚓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749040" y="1463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Полиция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057400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1E2D3D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1031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🛣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74320" y="25603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Ремонт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011680" y="2057400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1E2D3D"/>
          </a:solidFill>
          <a:ln w="12700">
            <a:solidFill>
              <a:srgbClr val="E052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0" y="21031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011680" y="25603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Опасност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749040" y="2057400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1E2D3D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21031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3749040" y="25603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Друго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0" y="960120"/>
            <a:ext cx="320040" cy="320040"/>
          </a:xfrm>
          <a:prstGeom prst="ellipse">
            <a:avLst/>
          </a:prstGeom>
          <a:solidFill>
            <a:srgbClr val="E31937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0" y="960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80760" y="97840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Потребителят докладва инцидент с тап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824728" y="1280160"/>
            <a:ext cx="0" cy="320040"/>
          </a:xfrm>
          <a:prstGeom prst="line">
            <a:avLst/>
          </a:prstGeom>
          <a:noFill/>
          <a:ln w="12700">
            <a:solidFill>
              <a:srgbClr val="607080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5669280" y="16002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0" y="1600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080760" y="161848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Маркерът се появява веднага на картата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824728" y="1920240"/>
            <a:ext cx="0" cy="320040"/>
          </a:xfrm>
          <a:prstGeom prst="line">
            <a:avLst/>
          </a:prstGeom>
          <a:noFill/>
          <a:ln w="12700">
            <a:solidFill>
              <a:srgbClr val="607080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5669280" y="224028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0" y="2240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080760" y="22585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Другите потребители гласуват ▲ / ▼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824728" y="2560320"/>
            <a:ext cx="0" cy="320040"/>
          </a:xfrm>
          <a:prstGeom prst="line">
            <a:avLst/>
          </a:prstGeom>
          <a:noFill/>
          <a:ln w="12700">
            <a:solidFill>
              <a:srgbClr val="607080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5669280" y="2880360"/>
            <a:ext cx="320040" cy="320040"/>
          </a:xfrm>
          <a:prstGeom prst="ellipse">
            <a:avLst/>
          </a:prstGeom>
          <a:solidFill>
            <a:srgbClr val="00C9FF"/>
          </a:solidFill>
          <a:ln/>
        </p:spPr>
      </p:sp>
      <p:sp>
        <p:nvSpPr>
          <p:cNvPr id="39" name="Text 37"/>
          <p:cNvSpPr/>
          <p:nvPr/>
        </p:nvSpPr>
        <p:spPr>
          <a:xfrm>
            <a:off x="566928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080760" y="28986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След изтичане TTL маркерът изчезва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824728" y="3200400"/>
            <a:ext cx="0" cy="320040"/>
          </a:xfrm>
          <a:prstGeom prst="line">
            <a:avLst/>
          </a:prstGeom>
          <a:noFill/>
          <a:ln w="12700">
            <a:solidFill>
              <a:srgbClr val="607080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5669280" y="352044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3" name="Text 41"/>
          <p:cNvSpPr/>
          <p:nvPr/>
        </p:nvSpPr>
        <p:spPr>
          <a:xfrm>
            <a:off x="5669280" y="3520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080760" y="353872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Администраторът може да го изтрие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E319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66460"/>
            <a:ext cx="12192000" cy="73152"/>
          </a:xfrm>
          <a:prstGeom prst="rect">
            <a:avLst/>
          </a:prstGeom>
          <a:solidFill>
            <a:srgbClr val="1A253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61036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</a:rPr>
              <a:t>Функционалност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61036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31937"/>
                </a:solidFill>
              </a:rPr>
              <a:t>tesradar.tech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Engine Sound Simulator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65760" y="749808"/>
            <a:ext cx="22860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960120"/>
            <a:ext cx="1810512" cy="1371600"/>
          </a:xfrm>
          <a:prstGeom prst="roundRect">
            <a:avLst>
              <a:gd name="adj" fmla="val 8000"/>
            </a:avLst>
          </a:prstGeom>
          <a:solidFill>
            <a:srgbClr val="1E2D3D"/>
          </a:solidFill>
          <a:ln w="12700">
            <a:solidFill>
              <a:srgbClr val="E31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24128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🔴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74320" y="1554480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Sport V8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1810512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Класически V8 спортен звук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221992" y="960120"/>
            <a:ext cx="1810512" cy="1371600"/>
          </a:xfrm>
          <a:prstGeom prst="roundRect">
            <a:avLst>
              <a:gd name="adj" fmla="val 8000"/>
            </a:avLst>
          </a:prstGeom>
          <a:solidFill>
            <a:srgbClr val="1E2D3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21992" y="1024128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🟡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221992" y="1554480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Muscle V8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21992" y="1810512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Дълбок мускулен тон с харктерно урчене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169664" y="960120"/>
            <a:ext cx="1810512" cy="1371600"/>
          </a:xfrm>
          <a:prstGeom prst="roundRect">
            <a:avLst>
              <a:gd name="adj" fmla="val 8000"/>
            </a:avLst>
          </a:prstGeom>
          <a:solidFill>
            <a:srgbClr val="1E2D3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69664" y="1024128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🟢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169664" y="1554480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Open Header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69664" y="1810512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Хибриден синт + реален звук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117336" y="960120"/>
            <a:ext cx="1810512" cy="1371600"/>
          </a:xfrm>
          <a:prstGeom prst="roundRect">
            <a:avLst>
              <a:gd name="adj" fmla="val 8000"/>
            </a:avLst>
          </a:prstGeom>
          <a:solidFill>
            <a:srgbClr val="1E2D3D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17336" y="1024128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🟣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117336" y="1554480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AMG S63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17336" y="1810512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V8 BiTurbo с exhaust pops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065008" y="960120"/>
            <a:ext cx="1810512" cy="1371600"/>
          </a:xfrm>
          <a:prstGeom prst="roundRect">
            <a:avLst>
              <a:gd name="adj" fmla="val 8000"/>
            </a:avLst>
          </a:prstGeom>
          <a:solidFill>
            <a:srgbClr val="1E2D3D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65008" y="1024128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065008" y="1554480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W12 Bentley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65008" y="1810512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W12 луксозен звук с дълбок бас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65760" y="2560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Как работи: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74320" y="2926080"/>
            <a:ext cx="8595360" cy="1645920"/>
          </a:xfrm>
          <a:prstGeom prst="roundRect">
            <a:avLst>
              <a:gd name="adj" fmla="val 5556"/>
            </a:avLst>
          </a:prstGeom>
          <a:solidFill>
            <a:srgbClr val="1A2535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063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FF"/>
                </a:solidFill>
              </a:rPr>
              <a:t>GPS km/h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286000" y="30632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31937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834640" y="3063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RPM зона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54880" y="30632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31937"/>
                </a:solidFill>
              </a:rPr>
              <a:t>→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03520" y="3063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Gear model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040880" y="30632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31937"/>
                </a:solidFill>
              </a:rPr>
              <a:t>→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589520" y="3063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</a:rPr>
              <a:t>Oscillator Hz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Обем: ×0.5 до ×5.0  |  Колапсиращ Volume Panel  |  rAF exponential interpolation  |  Fade in/out при смяна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E319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66460"/>
            <a:ext cx="12192000" cy="73152"/>
          </a:xfrm>
          <a:prstGeom prst="rect">
            <a:avLst/>
          </a:prstGeom>
          <a:solidFill>
            <a:srgbClr val="1A253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61036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</a:rPr>
              <a:t>Функционалност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61036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31937"/>
                </a:solidFill>
              </a:rPr>
              <a:t>tesradar.tech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Admin Panel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65760" y="749808"/>
            <a:ext cx="137160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960120"/>
            <a:ext cx="4206240" cy="1691640"/>
          </a:xfrm>
          <a:prstGeom prst="roundRect">
            <a:avLst>
              <a:gd name="adj" fmla="val 6486"/>
            </a:avLst>
          </a:prstGeom>
          <a:solidFill>
            <a:srgbClr val="1E2D3D"/>
          </a:solidFill>
          <a:ln w="12700">
            <a:solidFill>
              <a:srgbClr val="E31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51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🗺  Карта с всички маркери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417320"/>
            <a:ext cx="3657600" cy="0"/>
          </a:xfrm>
          <a:prstGeom prst="line">
            <a:avLst/>
          </a:prstGeom>
          <a:noFill/>
          <a:ln w="12700">
            <a:solidFill>
              <a:srgbClr val="E319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087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Визуализация на всички потребителски и служебни маркери. Admin маркерите имат червен badge за разграничаване.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206240" cy="1691640"/>
          </a:xfrm>
          <a:prstGeom prst="roundRect">
            <a:avLst>
              <a:gd name="adj" fmla="val 6486"/>
            </a:avLst>
          </a:prstGeom>
          <a:solidFill>
            <a:srgbClr val="1E2D3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051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✏️  CRUD операции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37760" y="1417320"/>
            <a:ext cx="36576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5087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Добавяне, редакция и изтриване на маркери директно от картата.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4206240" cy="1691640"/>
          </a:xfrm>
          <a:prstGeom prst="roundRect">
            <a:avLst>
              <a:gd name="adj" fmla="val 6486"/>
            </a:avLst>
          </a:prstGeom>
          <a:solidFill>
            <a:srgbClr val="1E2D3D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926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📡  Управление на камери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3657600" cy="0"/>
          </a:xfrm>
          <a:prstGeom prst="line">
            <a:avLst/>
          </a:prstGeom>
          <a:noFill/>
          <a:ln w="12700">
            <a:solidFill>
              <a:srgbClr val="00C9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832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Ръчно добавяне на скоростни камери с точни координати и посока.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834640"/>
            <a:ext cx="4206240" cy="1691640"/>
          </a:xfrm>
          <a:prstGeom prst="roundRect">
            <a:avLst>
              <a:gd name="adj" fmla="val 6486"/>
            </a:avLst>
          </a:prstGeom>
          <a:solidFill>
            <a:srgbClr val="1E2D3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926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👥  Модерация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37760" y="3291840"/>
            <a:ext cx="3657600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3832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Преглед и изтриване на общностни доклади. Работа с abuse reports.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E319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66460"/>
            <a:ext cx="12192000" cy="73152"/>
          </a:xfrm>
          <a:prstGeom prst="rect">
            <a:avLst/>
          </a:prstGeom>
          <a:solidFill>
            <a:srgbClr val="1A253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61036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</a:rPr>
              <a:t>Технологии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61036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31937"/>
                </a:solidFill>
              </a:rPr>
              <a:t>tesradar.tech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Технически Стек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65760" y="749808"/>
            <a:ext cx="1828800" cy="0"/>
          </a:xfrm>
          <a:prstGeom prst="line">
            <a:avLst/>
          </a:prstGeom>
          <a:noFill/>
          <a:ln w="12700">
            <a:solidFill>
              <a:srgbClr val="00C9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914400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1E2D3D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914400"/>
            <a:ext cx="4206240" cy="347472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9509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FRONTEND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3533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• React 18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6550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• TypeScript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19568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• Vite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2585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• TailwindCSS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560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• Mapbox GL JS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914400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1E2D3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914400"/>
            <a:ext cx="4206240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9509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BACKEND / API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13533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• Vercel Serverless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16550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• Node.js API Routes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19568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• Supabase REST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22585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• Realtime WS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926080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1E2D3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926080"/>
            <a:ext cx="420624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296265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БАЗА ДАННИ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3364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• Supabase / PostgreSQL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6667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• Row Level Security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39684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• Realtime subscriptions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2702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• Edge Functions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2926080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1E2D3D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2926080"/>
            <a:ext cx="4206240" cy="3474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4983480" y="296265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ИНФРАСТРУКТУРА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0" y="3364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• Vercel CDN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0" y="36667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• GitHub CI/CD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0" y="39684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• Vercel Free Tier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0" y="42702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• Custom Domain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E319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66460"/>
            <a:ext cx="12192000" cy="73152"/>
          </a:xfrm>
          <a:prstGeom prst="rect">
            <a:avLst/>
          </a:prstGeom>
          <a:solidFill>
            <a:srgbClr val="1A253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61036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</a:rPr>
              <a:t>Архитектура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61036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31937"/>
                </a:solidFill>
              </a:rPr>
              <a:t>tesradar.tech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Системна Архитектура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65760" y="749808"/>
            <a:ext cx="2286000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960120"/>
            <a:ext cx="2743200" cy="685800"/>
          </a:xfrm>
          <a:prstGeom prst="roundRect">
            <a:avLst>
              <a:gd name="adj" fmla="val 13333"/>
            </a:avLst>
          </a:prstGeom>
          <a:solidFill>
            <a:srgbClr val="E31937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9601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🚗  Tesla Browser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(React SPA)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645920"/>
            <a:ext cx="0" cy="36576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71907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080"/>
                </a:solidFill>
              </a:rPr>
              <a:t>HTTPS / WS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286000" y="2011680"/>
            <a:ext cx="4572000" cy="685800"/>
          </a:xfrm>
          <a:prstGeom prst="roundRect">
            <a:avLst>
              <a:gd name="adj" fmla="val 13333"/>
            </a:avLst>
          </a:prstGeom>
          <a:solidFill>
            <a:srgbClr val="1A2535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201168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FF"/>
                </a:solidFill>
              </a:rPr>
              <a:t>☁️  Vercel Edge Network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C9FF"/>
                </a:solidFill>
              </a:rPr>
              <a:t>(Serverless Functions + CDN + Static Assets)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2697480"/>
            <a:ext cx="0" cy="36576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2697480"/>
            <a:ext cx="0" cy="36576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27889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080"/>
                </a:solidFill>
              </a:rPr>
              <a:t>REST API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943600" y="27889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080"/>
                </a:solidFill>
              </a:rPr>
              <a:t>Realtime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14400" y="3063240"/>
            <a:ext cx="3200400" cy="685800"/>
          </a:xfrm>
          <a:prstGeom prst="roundRect">
            <a:avLst>
              <a:gd name="adj" fmla="val 13333"/>
            </a:avLst>
          </a:prstGeom>
          <a:solidFill>
            <a:srgbClr val="1A253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0632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🗄  Supabase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PostgreSQL + Auth + RLS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0" y="3063240"/>
            <a:ext cx="2743200" cy="685800"/>
          </a:xfrm>
          <a:prstGeom prst="roundRect">
            <a:avLst>
              <a:gd name="adj" fmla="val 13333"/>
            </a:avLst>
          </a:prstGeom>
          <a:solidFill>
            <a:srgbClr val="1A25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30632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⚡  Supabase Realtime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WebSocket live updates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14600" y="3749040"/>
            <a:ext cx="0" cy="274320"/>
          </a:xfrm>
          <a:prstGeom prst="line">
            <a:avLst/>
          </a:prstGeom>
          <a:noFill/>
          <a:ln w="12700">
            <a:solidFill>
              <a:srgbClr val="B0BEC5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400800" y="3749040"/>
            <a:ext cx="0" cy="274320"/>
          </a:xfrm>
          <a:prstGeom prst="line">
            <a:avLst/>
          </a:prstGeom>
          <a:noFill/>
          <a:ln w="12700">
            <a:solidFill>
              <a:srgbClr val="B0BEC5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274320" y="402336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1E2D3D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0233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🌍  Mapbox GL JS  |  🌐  Geolocation API  |  📡  Charging DB APIs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4023360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1E2D3D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40233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🔊  Web Audio API  |  🎯  GPS Geolocation  |  🔔  Push Notifications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E319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66460"/>
            <a:ext cx="12192000" cy="73152"/>
          </a:xfrm>
          <a:prstGeom prst="rect">
            <a:avLst/>
          </a:prstGeom>
          <a:solidFill>
            <a:srgbClr val="1A253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61036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</a:rPr>
              <a:t>UX &amp; Локализация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61036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31937"/>
                </a:solidFill>
              </a:rPr>
              <a:t>tesradar.tech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Мултиезичност &amp; Потребителски опит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749808"/>
            <a:ext cx="274320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960120"/>
            <a:ext cx="1645920" cy="868680"/>
          </a:xfrm>
          <a:prstGeom prst="roundRect">
            <a:avLst>
              <a:gd name="adj" fmla="val 10526"/>
            </a:avLst>
          </a:prstGeom>
          <a:solidFill>
            <a:srgbClr val="1E2D3D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058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🇧🇬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1024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FF"/>
                </a:solidFill>
              </a:rPr>
              <a:t>BG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12984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Български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03120" y="960120"/>
            <a:ext cx="1645920" cy="868680"/>
          </a:xfrm>
          <a:prstGeom prst="roundRect">
            <a:avLst>
              <a:gd name="adj" fmla="val 10526"/>
            </a:avLst>
          </a:prstGeom>
          <a:solidFill>
            <a:srgbClr val="1E2D3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10058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🇬🇧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651760" y="1024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EN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51760" y="12984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English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931920" y="960120"/>
            <a:ext cx="1645920" cy="868680"/>
          </a:xfrm>
          <a:prstGeom prst="roundRect">
            <a:avLst>
              <a:gd name="adj" fmla="val 10526"/>
            </a:avLst>
          </a:prstGeom>
          <a:solidFill>
            <a:srgbClr val="1E2D3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10058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🇩🇪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480560" y="1024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DE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80560" y="12984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Deutsch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1965960"/>
            <a:ext cx="1645920" cy="868680"/>
          </a:xfrm>
          <a:prstGeom prst="roundRect">
            <a:avLst>
              <a:gd name="adj" fmla="val 10526"/>
            </a:avLst>
          </a:prstGeom>
          <a:solidFill>
            <a:srgbClr val="1E2D3D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0116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🇳🇱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22960" y="20299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</a:rPr>
              <a:t>NL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230428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Nederlands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103120" y="1965960"/>
            <a:ext cx="1645920" cy="868680"/>
          </a:xfrm>
          <a:prstGeom prst="roundRect">
            <a:avLst>
              <a:gd name="adj" fmla="val 10526"/>
            </a:avLst>
          </a:prstGeom>
          <a:solidFill>
            <a:srgbClr val="1E2D3D"/>
          </a:solidFill>
          <a:ln w="12700">
            <a:solidFill>
              <a:srgbClr val="E319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03120" y="20116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🇳🇴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2651760" y="20299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1937"/>
                </a:solidFill>
              </a:rPr>
              <a:t>NO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651760" y="230428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Norsk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931920" y="1965960"/>
            <a:ext cx="1645920" cy="868680"/>
          </a:xfrm>
          <a:prstGeom prst="roundRect">
            <a:avLst>
              <a:gd name="adj" fmla="val 10526"/>
            </a:avLst>
          </a:prstGeom>
          <a:solidFill>
            <a:srgbClr val="1E2D3D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0" y="20116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🇷🇴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480560" y="20299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B308"/>
                </a:solidFill>
              </a:rPr>
              <a:t>RO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480560" y="230428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Română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43600" y="914400"/>
            <a:ext cx="2926080" cy="3657600"/>
          </a:xfrm>
          <a:prstGeom prst="roundRect">
            <a:avLst>
              <a:gd name="adj" fmla="val 4688"/>
            </a:avLst>
          </a:prstGeom>
          <a:solidFill>
            <a:srgbClr val="1E2D3D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Дизайн принципи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035040" y="14173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👆  Touch-first — всичко тапвано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35040" y="18288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🔦  Dark theme — нощно шофиране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35040" y="22402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📏  Големи бутони — Tesla 17"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35040" y="26517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⚡  Без hover — само touch events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35040" y="30632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🔕  Минимум текст — визуални icons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35040" y="34747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🌙  Нисък контраст — не сляпа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035040" y="38862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📡  Offline tolerant — GPS кеш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E319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66460"/>
            <a:ext cx="12192000" cy="73152"/>
          </a:xfrm>
          <a:prstGeom prst="rect">
            <a:avLst/>
          </a:prstGeom>
          <a:solidFill>
            <a:srgbClr val="1A253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61036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</a:rPr>
              <a:t>Deployment &amp; Performance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61036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31937"/>
                </a:solidFill>
              </a:rPr>
              <a:t>tesradar.tech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Производителност &amp; Деплой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65760" y="749808"/>
            <a:ext cx="2286000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914400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1E2D3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058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</a:rPr>
              <a:t>&lt; 2s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4320" y="157276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Initial load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51760" y="914400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1E2D3D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0058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FF"/>
                </a:solidFill>
              </a:rPr>
              <a:t>60fps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51760" y="157276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Map rendering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914400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1E2D3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0058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&lt; 100ms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29200" y="157276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API response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06640" y="914400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1E2D3D"/>
          </a:solidFill>
          <a:ln w="12700">
            <a:solidFill>
              <a:srgbClr val="E319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10058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1937"/>
                </a:solidFill>
              </a:rPr>
              <a:t>0 €/мес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06640" y="157276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Hosting cost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2194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CI/CD Pipeline: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2606040"/>
            <a:ext cx="2011680" cy="685800"/>
          </a:xfrm>
          <a:prstGeom prst="roundRect">
            <a:avLst>
              <a:gd name="adj" fmla="val 13333"/>
            </a:avLst>
          </a:prstGeom>
          <a:solidFill>
            <a:srgbClr val="00C9FF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26060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Git Push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377440" y="2788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651760" y="2606040"/>
            <a:ext cx="2011680" cy="68580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2651760" y="26060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Vercel Build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(Vite)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2788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029200" y="2606040"/>
            <a:ext cx="2011680" cy="68580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26060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Preview URL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32320" y="2788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406640" y="2606040"/>
            <a:ext cx="2011680" cy="685800"/>
          </a:xfrm>
          <a:prstGeom prst="roundRect">
            <a:avLst>
              <a:gd name="adj" fmla="val 13333"/>
            </a:avLst>
          </a:prstGeom>
          <a:solidFill>
            <a:srgbClr val="E31937"/>
          </a:solidFill>
          <a:ln/>
        </p:spPr>
      </p:sp>
      <p:sp>
        <p:nvSpPr>
          <p:cNvPr id="31" name="Text 29"/>
          <p:cNvSpPr/>
          <p:nvPr/>
        </p:nvSpPr>
        <p:spPr>
          <a:xfrm>
            <a:off x="7406640" y="26060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Production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tesradar.tech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474720"/>
            <a:ext cx="8595360" cy="1143000"/>
          </a:xfrm>
          <a:prstGeom prst="roundRect">
            <a:avLst>
              <a:gd name="adj" fmla="val 8000"/>
            </a:avLst>
          </a:prstGeom>
          <a:solidFill>
            <a:srgbClr val="1A253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✅  Напълно в рамките на Free Tier: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38587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Vercel Free (100GB bandwidth) + Supabase Free (500MB DB, 50K requests/mo) + Mapbox Free (50K tiles/mo) + Custom Domain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E319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66460"/>
            <a:ext cx="12192000" cy="73152"/>
          </a:xfrm>
          <a:prstGeom prst="rect">
            <a:avLst/>
          </a:prstGeom>
          <a:solidFill>
            <a:srgbClr val="1A253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61036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</a:rPr>
              <a:t>Пазар &amp; Обхват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61036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31937"/>
                </a:solidFill>
              </a:rPr>
              <a:t>tesradar.tech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Пазарен Обхват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65760" y="749808"/>
            <a:ext cx="1828800" cy="0"/>
          </a:xfrm>
          <a:prstGeom prst="line">
            <a:avLst/>
          </a:prstGeom>
          <a:noFill/>
          <a:ln w="12700">
            <a:solidFill>
              <a:srgbClr val="E31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960120"/>
            <a:ext cx="2743200" cy="1417320"/>
          </a:xfrm>
          <a:prstGeom prst="roundRect">
            <a:avLst>
              <a:gd name="adj" fmla="val 7742"/>
            </a:avLst>
          </a:prstGeom>
          <a:solidFill>
            <a:srgbClr val="1E2D3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51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🇧🇬  България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44475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Скоростни камери, общностни доклади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960120"/>
            <a:ext cx="2743200" cy="1417320"/>
          </a:xfrm>
          <a:prstGeom prst="roundRect">
            <a:avLst>
              <a:gd name="adj" fmla="val 7742"/>
            </a:avLst>
          </a:prstGeom>
          <a:solidFill>
            <a:srgbClr val="1E2D3D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051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🇳🇴  Норвегия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144475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Камери, зарядни, community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09360" y="960120"/>
            <a:ext cx="2743200" cy="1417320"/>
          </a:xfrm>
          <a:prstGeom prst="roundRect">
            <a:avLst>
              <a:gd name="adj" fmla="val 7742"/>
            </a:avLst>
          </a:prstGeom>
          <a:solidFill>
            <a:srgbClr val="1E2D3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051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🇩🇪  Германия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144475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Зарядна мрежа, локализация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560320"/>
            <a:ext cx="2743200" cy="1417320"/>
          </a:xfrm>
          <a:prstGeom prst="roundRect">
            <a:avLst>
              <a:gd name="adj" fmla="val 7742"/>
            </a:avLst>
          </a:prstGeom>
          <a:solidFill>
            <a:srgbClr val="1E2D3D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🇳🇱  Нидерландия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304495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EV infrastructure, localization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91840" y="2560320"/>
            <a:ext cx="2743200" cy="1417320"/>
          </a:xfrm>
          <a:prstGeom prst="roundRect">
            <a:avLst>
              <a:gd name="adj" fmla="val 7742"/>
            </a:avLst>
          </a:prstGeom>
          <a:solidFill>
            <a:srgbClr val="1E2D3D"/>
          </a:solidFill>
          <a:ln w="12700">
            <a:solidFill>
              <a:srgbClr val="E319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🇷🇴  Румъния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29000" y="304495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Локализация, roadmap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26480" y="960120"/>
            <a:ext cx="2743200" cy="1417320"/>
          </a:xfrm>
          <a:prstGeom prst="roundRect">
            <a:avLst>
              <a:gd name="adj" fmla="val 7742"/>
            </a:avLst>
          </a:prstGeom>
          <a:solidFill>
            <a:srgbClr val="1A2535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1051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🎯  Целева аудитория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63640" y="144475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Tesla собственици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Model S / 3 / X / Y / 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Ежедневни шофьори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E319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66460"/>
            <a:ext cx="12192000" cy="73152"/>
          </a:xfrm>
          <a:prstGeom prst="rect">
            <a:avLst/>
          </a:prstGeom>
          <a:solidFill>
            <a:srgbClr val="1A253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61036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</a:rPr>
              <a:t>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61036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31937"/>
                </a:solidFill>
              </a:rPr>
              <a:t>tesradar.tech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Roadmap &amp; Следващи Стъпки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65760" y="749808"/>
            <a:ext cx="2286000" cy="0"/>
          </a:xfrm>
          <a:prstGeom prst="line">
            <a:avLst/>
          </a:prstGeom>
          <a:noFill/>
          <a:ln w="12700">
            <a:solidFill>
              <a:srgbClr val="E31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914400"/>
            <a:ext cx="2834640" cy="3657600"/>
          </a:xfrm>
          <a:prstGeom prst="roundRect">
            <a:avLst>
              <a:gd name="adj" fmla="val 4839"/>
            </a:avLst>
          </a:prstGeom>
          <a:solidFill>
            <a:srgbClr val="1E2D3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914400"/>
            <a:ext cx="283464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9326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Q3 2025 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1704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Launched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157276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15270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Real-time карта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048256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0025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Камерна база BG/NO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523744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4780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Зарядни станции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299923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9535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5 engine звука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47472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429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Admin panel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37560" y="914400"/>
            <a:ext cx="2834640" cy="3657600"/>
          </a:xfrm>
          <a:prstGeom prst="roundRect">
            <a:avLst>
              <a:gd name="adj" fmla="val 4839"/>
            </a:avLst>
          </a:prstGeom>
          <a:solidFill>
            <a:srgbClr val="1E2D3D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37560" y="914400"/>
            <a:ext cx="2834640" cy="502920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0" y="9326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Q4 2025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74720" y="11704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Growth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0" y="1572768"/>
            <a:ext cx="109728" cy="109728"/>
          </a:xfrm>
          <a:prstGeom prst="ellipse">
            <a:avLst/>
          </a:prstGeom>
          <a:solidFill>
            <a:srgbClr val="00C9FF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0" y="15270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Mobile app wrapper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74720" y="2048256"/>
            <a:ext cx="109728" cy="109728"/>
          </a:xfrm>
          <a:prstGeom prst="ellipse">
            <a:avLst/>
          </a:prstGeom>
          <a:solidFill>
            <a:srgbClr val="00C9FF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0" y="20025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Push notifications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74720" y="2523744"/>
            <a:ext cx="109728" cy="109728"/>
          </a:xfrm>
          <a:prstGeom prst="ellipse">
            <a:avLst/>
          </a:prstGeom>
          <a:solidFill>
            <a:srgbClr val="00C9FF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0" y="24780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Engine Pack Builder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74720" y="2999232"/>
            <a:ext cx="109728" cy="109728"/>
          </a:xfrm>
          <a:prstGeom prst="ellipse">
            <a:avLst/>
          </a:prstGeom>
          <a:solidFill>
            <a:srgbClr val="00C9FF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0" y="29535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Повече страни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474720" y="3474720"/>
            <a:ext cx="109728" cy="109728"/>
          </a:xfrm>
          <a:prstGeom prst="ellipse">
            <a:avLst/>
          </a:prstGeom>
          <a:solidFill>
            <a:srgbClr val="00C9FF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0" y="3429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Live traffic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0" y="914400"/>
            <a:ext cx="2834640" cy="3657600"/>
          </a:xfrm>
          <a:prstGeom prst="roundRect">
            <a:avLst>
              <a:gd name="adj" fmla="val 4839"/>
            </a:avLst>
          </a:prstGeom>
          <a:solidFill>
            <a:srgbClr val="1E2D3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0" y="914400"/>
            <a:ext cx="283464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6537960" y="9326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Q1 2026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37960" y="11704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Scale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537960" y="157276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6720840" y="15270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Tesla API интеграция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537960" y="2048256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6720840" y="20025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SoC % overlay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537960" y="252374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6720840" y="24780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Range predictor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537960" y="299923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7" name="Text 45"/>
          <p:cNvSpPr/>
          <p:nvPr/>
        </p:nvSpPr>
        <p:spPr>
          <a:xfrm>
            <a:off x="6720840" y="29535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Premium tier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537960" y="347472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9" name="Text 47"/>
          <p:cNvSpPr/>
          <p:nvPr/>
        </p:nvSpPr>
        <p:spPr>
          <a:xfrm>
            <a:off x="6720840" y="3429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Partner charging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0" y="6035040"/>
            <a:ext cx="12192000" cy="548640"/>
          </a:xfrm>
          <a:prstGeom prst="rect">
            <a:avLst/>
          </a:prstGeom>
          <a:solidFill>
            <a:srgbClr val="E31937"/>
          </a:solidFill>
          <a:ln/>
        </p:spPr>
      </p:sp>
      <p:sp>
        <p:nvSpPr>
          <p:cNvPr id="51" name="Text 49"/>
          <p:cNvSpPr/>
          <p:nvPr/>
        </p:nvSpPr>
        <p:spPr>
          <a:xfrm>
            <a:off x="274320" y="60350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🚀  Визия: TesRadar → най-популярното Tesla навигационно помощно средство в Европа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2026-08-05T20:09:12Z</dcterms:created>
  <dcterms:modified xsi:type="dcterms:W3CDTF">2026-08-05T20:09:12Z</dcterms:modified>
</cp:coreProperties>
</file>